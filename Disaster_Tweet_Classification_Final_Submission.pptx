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731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2191695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53312"/>
            <a:ext cx="1060704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F8FAFC"/>
                </a:solidFill>
              </a:defRPr>
            </a:pPr>
            <a:r>
              <a:t>Disaster Tweet</a:t>
            </a:r>
            <a:br/>
            <a:r>
              <a:t>Classification</a:t>
            </a:r>
          </a:p>
          <a:p>
            <a:pPr>
              <a:defRPr sz="1600">
                <a:solidFill>
                  <a:srgbClr val="22D3EE"/>
                </a:solidFill>
              </a:defRPr>
            </a:pPr>
            <a:r>
              <a:t>Natural Language Processing • Machine Learning • Streamlit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256032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3977639"/>
            <a:ext cx="54864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105655"/>
            <a:ext cx="2267712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Dataset</a:t>
            </a:r>
          </a:p>
          <a:p>
            <a:pPr>
              <a:defRPr sz="2300" b="1">
                <a:solidFill>
                  <a:srgbClr val="3B82F6"/>
                </a:solidFill>
              </a:defRPr>
            </a:pPr>
            <a:r>
              <a:t>7,613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Hand-classified tweets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977639"/>
            <a:ext cx="256032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29000" y="3977639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11880" y="4105655"/>
            <a:ext cx="2267712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Final Model</a:t>
            </a:r>
          </a:p>
          <a:p>
            <a:pPr>
              <a:defRPr sz="2300" b="1">
                <a:solidFill>
                  <a:srgbClr val="8B5CF6"/>
                </a:solidFill>
              </a:defRPr>
            </a:pPr>
            <a:r>
              <a:t>81.09%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Tuned Linear SVM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77639"/>
            <a:ext cx="256032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3977639"/>
            <a:ext cx="54864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4105655"/>
            <a:ext cx="2267712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F1 Score</a:t>
            </a:r>
          </a:p>
          <a:p>
            <a:pPr>
              <a:defRPr sz="2300" b="1">
                <a:solidFill>
                  <a:srgbClr val="EC4899"/>
                </a:solidFill>
              </a:defRPr>
            </a:pPr>
            <a:r>
              <a:t>77.85%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Final holdout 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400" y="3977639"/>
            <a:ext cx="256032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5400" y="3977639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4105655"/>
            <a:ext cx="2267712" cy="941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ROC-AUC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t>87.09%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Final holdout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715000"/>
            <a:ext cx="484369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7C6DB"/>
                </a:solidFill>
              </a:defRPr>
            </a:pPr>
            <a:r>
              <a:rPr dirty="0"/>
              <a:t>Submitted by: </a:t>
            </a:r>
            <a:r>
              <a:rPr lang="en-IN" dirty="0"/>
              <a:t>Megha Parasher</a:t>
            </a:r>
            <a:r>
              <a:rPr dirty="0"/>
              <a:t>     |     Submission date: 15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Background, Challenge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70683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Aligned with the official project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44348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4434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53895"/>
            <a:ext cx="2320892" cy="21236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Background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lang="en-IN" sz="1600" dirty="0"/>
              <a:t>T</a:t>
            </a:r>
            <a:r>
              <a:rPr sz="1600" dirty="0" err="1"/>
              <a:t>witter</a:t>
            </a:r>
            <a:r>
              <a:rPr sz="1600" dirty="0"/>
              <a:t> can spread critical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information during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emergencies,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creating value for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automated real-time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disaster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25880"/>
            <a:ext cx="3429000" cy="44348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51960" y="1325880"/>
            <a:ext cx="54864" cy="44348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453895"/>
            <a:ext cx="3135999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Challenge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Words such as “fire” or “flood” can be literal or metaphorical.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The model must distinguish real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disaster intent from non-disaster context.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325880"/>
            <a:ext cx="1417320" cy="32918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874519"/>
            <a:ext cx="3611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Build a binary classifier for real disaster vs non-disaster tweets.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Aim for high accuracy and precision to reduce false alarms.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Handle slang, abbreviations and language variation.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Create a scalable workflow suitable for real-time prediction.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Project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344055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/>
              <a:t>Four parts required by the project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2514600" cy="2286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874519"/>
            <a:ext cx="54864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002536"/>
            <a:ext cx="1912383" cy="1066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2000" dirty="0"/>
              <a:t>Part 1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2000" dirty="0"/>
              <a:t>Data Exploration</a:t>
            </a:r>
            <a:br>
              <a:rPr sz="2000" dirty="0"/>
            </a:br>
            <a:r>
              <a:rPr sz="2000" dirty="0"/>
              <a:t>&amp;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2112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2152" y="1874519"/>
            <a:ext cx="2514600" cy="2286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02152" y="1874519"/>
            <a:ext cx="54864" cy="2286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85032" y="2002536"/>
            <a:ext cx="2276649" cy="1066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2000"/>
              <a:t>Part 2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2000"/>
              <a:t>Feature Engineering</a:t>
            </a:r>
            <a:br>
              <a:rPr sz="2000"/>
            </a:br>
            <a:r>
              <a:rPr sz="2000"/>
              <a:t>&amp; Model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98464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18504" y="1874519"/>
            <a:ext cx="2514600" cy="2286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18504" y="1874519"/>
            <a:ext cx="54864" cy="2286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2002536"/>
            <a:ext cx="1461619" cy="1066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2000"/>
              <a:t>Part 3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2000"/>
              <a:t>Evaluation</a:t>
            </a:r>
            <a:br>
              <a:rPr sz="2000"/>
            </a:br>
            <a:r>
              <a:rPr sz="2000"/>
              <a:t>&amp;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14816" y="274320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2D3EE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1874519"/>
            <a:ext cx="2514600" cy="2286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34856" y="1874519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17736" y="2002536"/>
            <a:ext cx="1985928" cy="10669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2000"/>
              <a:t>Part 4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2000"/>
              <a:t>Deployment with</a:t>
            </a:r>
            <a:br>
              <a:rPr sz="2000"/>
            </a:br>
            <a:r>
              <a:rPr sz="2000"/>
              <a:t>Web Interface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8FAFC"/>
                </a:solidFill>
              </a:defRPr>
            </a:pPr>
            <a:r>
              <a:t>• Our implementation also uses reusable Python modules so the notebook, validation code and Streamlit app share the same logic.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1 — Data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31384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Dataset structure and target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965960" cy="9601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54864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1302676"/>
            <a:ext cx="1673351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dirty="0"/>
              <a:t>Tweets</a:t>
            </a:r>
          </a:p>
          <a:p>
            <a:pPr>
              <a:defRPr sz="2300" b="1">
                <a:solidFill>
                  <a:srgbClr val="3B82F6"/>
                </a:solidFill>
              </a:defRPr>
            </a:pPr>
            <a:r>
              <a:rPr dirty="0"/>
              <a:t>7,613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dirty="0"/>
              <a:t>Dataset used in implementation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234440"/>
            <a:ext cx="1965960" cy="9601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7480" y="1234440"/>
            <a:ext cx="54864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362456"/>
            <a:ext cx="1673351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Non-Disaster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t>4,342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57.03%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234440"/>
            <a:ext cx="1965960" cy="9601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1234440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83480" y="1362456"/>
            <a:ext cx="1673351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Disaster</a:t>
            </a:r>
          </a:p>
          <a:p>
            <a:pPr>
              <a:defRPr sz="2300" b="1">
                <a:solidFill>
                  <a:srgbClr val="EF4444"/>
                </a:solidFill>
              </a:defRPr>
            </a:pPr>
            <a:r>
              <a:t>3,271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42.97%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1234440"/>
            <a:ext cx="1965960" cy="9601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03720" y="1234440"/>
            <a:ext cx="54864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86600" y="1362456"/>
            <a:ext cx="1673351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Unique Texts</a:t>
            </a:r>
          </a:p>
          <a:p>
            <a:pPr>
              <a:defRPr sz="2300" b="1">
                <a:solidFill>
                  <a:srgbClr val="8B5CF6"/>
                </a:solidFill>
              </a:defRPr>
            </a:pPr>
            <a:r>
              <a:t>7,503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Distinct tweet texts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234440"/>
            <a:ext cx="2560320" cy="9601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06840" y="1234440"/>
            <a:ext cx="54864" cy="9601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89719" y="1362456"/>
            <a:ext cx="2267712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Columns</a:t>
            </a:r>
          </a:p>
          <a:p>
            <a:pPr>
              <a:defRPr sz="2300" b="1">
                <a:solidFill>
                  <a:srgbClr val="22D3EE"/>
                </a:solidFill>
              </a:defRPr>
            </a:pPr>
            <a:r>
              <a:t>5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id • keyword • location • text • target</a:t>
            </a:r>
          </a:p>
        </p:txBody>
      </p:sp>
      <p:pic>
        <p:nvPicPr>
          <p:cNvPr id="20" name="Picture 19" descr="image(20261006-153700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468880"/>
            <a:ext cx="5715000" cy="3520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20840" y="2788920"/>
            <a:ext cx="46634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Moderate class imbalance, but both classes have substantial representation.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Stratified splitting was used to preserve class proportions.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Initial checks covered shape, data types, missing values and duplicates.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1 — EDA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t>Tweet length and frequent keywords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05</a:t>
            </a:r>
          </a:p>
        </p:txBody>
      </p:sp>
      <p:pic>
        <p:nvPicPr>
          <p:cNvPr id="5" name="Picture 4" descr="image(20261006-15394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5623560" cy="3977639"/>
          </a:xfrm>
          <a:prstGeom prst="rect">
            <a:avLst/>
          </a:prstGeom>
        </p:spPr>
      </p:pic>
      <p:pic>
        <p:nvPicPr>
          <p:cNvPr id="6" name="Picture 5" descr="image(20261006-15404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40680" cy="39776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5349240"/>
            <a:ext cx="5303520" cy="777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5349240"/>
            <a:ext cx="54864" cy="777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477255"/>
            <a:ext cx="4913525" cy="695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dirty="0"/>
              <a:t>Tweet Length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dirty="0"/>
              <a:t>Disaster tweets are more concentrated at longer lengths, but strong overlap means length</a:t>
            </a:r>
            <a:r>
              <a:rPr lang="en-IN" dirty="0"/>
              <a:t> 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lang="en-IN" dirty="0"/>
              <a:t>alone</a:t>
            </a:r>
            <a:r>
              <a:rPr dirty="0"/>
              <a:t> cannot classify reliably.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5349240"/>
            <a:ext cx="5303520" cy="777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5349240"/>
            <a:ext cx="54864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5477255"/>
            <a:ext cx="4996881" cy="695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dirty="0"/>
              <a:t>Keywords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dirty="0"/>
              <a:t>Frequent keywords are disaster-related, yet the same vocabulary can appear in figurative or </a:t>
            </a:r>
            <a:endParaRPr lang="en-IN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dirty="0"/>
              <a:t>unrelated contexts.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1 — Data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07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t>Cleaning noisy social-media text before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05740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54864" cy="1920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82495"/>
            <a:ext cx="1955343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Missing Values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keyword/location filled;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required text/target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 retained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54480"/>
            <a:ext cx="205740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971800" y="1554480"/>
            <a:ext cx="54864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02283" y="1701954"/>
            <a:ext cx="2085827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Text Cleaning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lowercase • URLs • HTML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• mentions • special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characters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554480"/>
            <a:ext cx="205740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57800" y="1554480"/>
            <a:ext cx="54864" cy="1920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40680" y="1682495"/>
            <a:ext cx="1721177" cy="841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Token Processing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stop word removal +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lemmatization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1554480"/>
            <a:ext cx="205740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43800" y="1554480"/>
            <a:ext cx="54864" cy="19202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26679" y="1682495"/>
            <a:ext cx="1394228" cy="841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Target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0 = Non-Disaster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 1 = Disaster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9800" y="1554480"/>
            <a:ext cx="205740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29800" y="1554480"/>
            <a:ext cx="54864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12680" y="1682495"/>
            <a:ext cx="1920269" cy="5745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Split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stratified train/test split</a:t>
            </a:r>
          </a:p>
        </p:txBody>
      </p:sp>
      <p:pic>
        <p:nvPicPr>
          <p:cNvPr id="20" name="Picture 19" descr="image(20261006-15414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794760"/>
            <a:ext cx="5349240" cy="2331720"/>
          </a:xfrm>
          <a:prstGeom prst="rect">
            <a:avLst/>
          </a:prstGeom>
        </p:spPr>
      </p:pic>
      <p:pic>
        <p:nvPicPr>
          <p:cNvPr id="21" name="Picture 20" descr="image(20261006-154246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794760"/>
            <a:ext cx="5349240" cy="2331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2 —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33538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dirty="0"/>
              <a:t>Text representation </a:t>
            </a:r>
            <a:r>
              <a:rPr sz="1400" dirty="0"/>
              <a:t>plus</a:t>
            </a:r>
            <a:r>
              <a:rPr dirty="0"/>
              <a:t> supporting tweet-level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 dirty="0"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54864" cy="19202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9616"/>
            <a:ext cx="3200400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TF-IDF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Primary text representation. Tuned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final pipeline uses unigrams + bigrams.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54864" cy="1920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499616"/>
            <a:ext cx="3300968" cy="9335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Sentiment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Text</a:t>
            </a:r>
            <a:r>
              <a:rPr lang="en-IN" sz="1600" dirty="0"/>
              <a:t> </a:t>
            </a:r>
            <a:r>
              <a:rPr sz="1600" dirty="0"/>
              <a:t>Blob polarity was explored as an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additional feature.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71600"/>
            <a:ext cx="3383280" cy="19202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92440" y="1371600"/>
            <a:ext cx="54864" cy="192024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19" y="1499616"/>
            <a:ext cx="3230881" cy="1179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Tweet Features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Length, word count, hashtags, mentions, URLs, ! and ?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counts.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886200"/>
            <a:ext cx="10424160" cy="14173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68680" y="3886200"/>
            <a:ext cx="54864" cy="1417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014215"/>
            <a:ext cx="10216387" cy="841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Important Methodology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TF-IDF was fitted only on training data. For cross-validation and Grid</a:t>
            </a:r>
            <a:r>
              <a:rPr lang="en-IN" sz="1400" dirty="0"/>
              <a:t> </a:t>
            </a:r>
            <a:r>
              <a:rPr sz="1400" dirty="0" err="1"/>
              <a:t>SearchCV</a:t>
            </a:r>
            <a:r>
              <a:rPr sz="1400" dirty="0"/>
              <a:t>, TF-IDF stayed inside each Scikit-learn Pipeline so every fold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learned vocabulary independently and avoided leakage.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2 — Model Selection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37129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Candidate models were compared before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08</a:t>
            </a:r>
          </a:p>
        </p:txBody>
      </p:sp>
      <p:pic>
        <p:nvPicPr>
          <p:cNvPr id="5" name="Picture 4" descr="image(20261006-15435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45236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1600200"/>
            <a:ext cx="3246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Logistic Regression: strong balanced baseline.</a:t>
            </a:r>
          </a:p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Linear SVM: strong recall and well suited to sparse TF-IDF features.</a:t>
            </a:r>
          </a:p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Random Forest: high precision but lower recall.</a:t>
            </a:r>
          </a:p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Multinomial Naive Bayes: best initial accuracy and precision.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3 — Initial Model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30226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Accuracy, precision, recall and F1-score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2926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417320"/>
            <a:ext cx="15087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417320"/>
            <a:ext cx="15087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Precision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1417320"/>
            <a:ext cx="15087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417320"/>
            <a:ext cx="15087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20824"/>
            <a:ext cx="292608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Logistic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02082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80.37%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202082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80.55%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202082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71.56%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202082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75.79%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2660904"/>
            <a:ext cx="292608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Linear SVM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66090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78.73%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266090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76.03%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66090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73.70%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66090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74.84%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300984"/>
            <a:ext cx="292608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Random Forest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30098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79.19%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94960" y="330098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85.03%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330098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62.54%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03920" y="3300984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72.07%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3941063"/>
            <a:ext cx="292608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Multinomial NB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941063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82.01%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3941063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87.85%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49440" y="3941063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67.43%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3941063"/>
            <a:ext cx="1508760" cy="566928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76.30%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98348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Naive Bayes led the initial evaluation in accuracy, precision and F1.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Linear SVM had the highest initial recall.</a:t>
            </a:r>
          </a:p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t>• These initial results were followed by leakage-safe cross-validation and hyperparameter tuning before final model selection.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3 — Confusion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53826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Initial models showed different false-positive / false-negative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10</a:t>
            </a:r>
          </a:p>
        </p:txBody>
      </p:sp>
      <p:pic>
        <p:nvPicPr>
          <p:cNvPr id="5" name="Picture 4" descr="image(20261006-15444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2743200" cy="2423160"/>
          </a:xfrm>
          <a:prstGeom prst="rect">
            <a:avLst/>
          </a:prstGeom>
        </p:spPr>
      </p:pic>
      <p:pic>
        <p:nvPicPr>
          <p:cNvPr id="6" name="Picture 5" descr="image(20261006-154552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1234440"/>
            <a:ext cx="2743200" cy="2423160"/>
          </a:xfrm>
          <a:prstGeom prst="rect">
            <a:avLst/>
          </a:prstGeom>
        </p:spPr>
      </p:pic>
      <p:pic>
        <p:nvPicPr>
          <p:cNvPr id="7" name="Picture 6" descr="image(20261006-154703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234440"/>
            <a:ext cx="2743200" cy="2423160"/>
          </a:xfrm>
          <a:prstGeom prst="rect">
            <a:avLst/>
          </a:prstGeom>
        </p:spPr>
      </p:pic>
      <p:pic>
        <p:nvPicPr>
          <p:cNvPr id="8" name="Picture 7" descr="image(20261006-154819)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1234440"/>
            <a:ext cx="2606040" cy="24231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3840480"/>
            <a:ext cx="269748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840480"/>
            <a:ext cx="54864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1" y="3968496"/>
            <a:ext cx="246888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Logistic Regression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TN 756 • FP 113 • FN 186 • TP 468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3840480"/>
            <a:ext cx="269748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29000" y="38404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1881" y="3968496"/>
            <a:ext cx="2468880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Linear SVM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TN 717 • FP 152 • FN 172 • TP 482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840480"/>
            <a:ext cx="269748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55080" y="3840480"/>
            <a:ext cx="54864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3968496"/>
            <a:ext cx="2578608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/>
              <a:t>Random Forest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/>
              <a:t>TN 797 • FP 72 • FN 245 • TP 409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840480"/>
            <a:ext cx="269748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81160" y="384048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64040" y="3968496"/>
            <a:ext cx="2350008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Naive Bayes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TN 808 • FP 61 • FN 213 • TP 441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rPr sz="1400" dirty="0"/>
              <a:t>• Random Forest and Naive Bayes were conservative about predicting disasters; Linear SVM captured more actual disasters but initially produced more false positives.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3 — Precision–Recall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46035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All four initial models achieved Average Precision above 0.85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image(20261006-1549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7543800" cy="4800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417320"/>
            <a:ext cx="2971800" cy="9144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366760" y="1417320"/>
            <a:ext cx="54864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49640" y="1513229"/>
            <a:ext cx="1589794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Naive Bayes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rPr sz="1600" dirty="0"/>
              <a:t>0.868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Highest initial 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514600"/>
            <a:ext cx="2971800" cy="9144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366760" y="2514600"/>
            <a:ext cx="54864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49640" y="2610509"/>
            <a:ext cx="1783245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Logistic Regression</a:t>
            </a:r>
          </a:p>
          <a:p>
            <a:pPr>
              <a:defRPr sz="2300" b="1">
                <a:solidFill>
                  <a:srgbClr val="3B82F6"/>
                </a:solidFill>
              </a:defRPr>
            </a:pPr>
            <a:r>
              <a:rPr sz="1600" dirty="0"/>
              <a:t>0.862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Very close second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611880"/>
            <a:ext cx="2971800" cy="9144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66760" y="3611880"/>
            <a:ext cx="54864" cy="9144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3681930"/>
            <a:ext cx="1422056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Linear SVM</a:t>
            </a:r>
          </a:p>
          <a:p>
            <a:pPr>
              <a:defRPr sz="2300" b="1">
                <a:solidFill>
                  <a:srgbClr val="8B5CF6"/>
                </a:solidFill>
              </a:defRPr>
            </a:pPr>
            <a:r>
              <a:rPr sz="1600" dirty="0"/>
              <a:t>0.855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Strong balance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4709160"/>
            <a:ext cx="2971800" cy="9144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66760" y="4709160"/>
            <a:ext cx="54864" cy="9144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49639" y="4750205"/>
            <a:ext cx="1783245" cy="882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Random Forest</a:t>
            </a:r>
          </a:p>
          <a:p>
            <a:pPr>
              <a:defRPr sz="2300" b="1">
                <a:solidFill>
                  <a:srgbClr val="F97316"/>
                </a:solidFill>
              </a:defRPr>
            </a:pPr>
            <a:r>
              <a:rPr sz="1600"/>
              <a:t>0.851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Competitive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3 — Validation &amp; Hyperparameter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392767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5-fold Stratified CV + GridSearchCV on training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520440" cy="12801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4864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08176"/>
            <a:ext cx="3275640" cy="1179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Logistic Regression</a:t>
            </a:r>
          </a:p>
          <a:p>
            <a:pPr>
              <a:defRPr sz="2300" b="1">
                <a:solidFill>
                  <a:srgbClr val="3B82F6"/>
                </a:solidFill>
              </a:defRPr>
            </a:pPr>
            <a:r>
              <a:rPr sz="1600" dirty="0"/>
              <a:t>CV F1 75.29%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Best: C=0.5 • </a:t>
            </a:r>
            <a:r>
              <a:rPr sz="1600" dirty="0" err="1"/>
              <a:t>class_weight</a:t>
            </a:r>
            <a:r>
              <a:rPr sz="1600" dirty="0"/>
              <a:t>=balanced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• bigrams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520440" cy="12801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54864" cy="1280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319924"/>
            <a:ext cx="2914772" cy="1179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Multinomial NB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rPr sz="1600" dirty="0"/>
              <a:t>CV F1 75.11%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Best: alpha=1.0 • </a:t>
            </a:r>
            <a:r>
              <a:rPr sz="1600" dirty="0" err="1"/>
              <a:t>fit_prior</a:t>
            </a:r>
            <a:r>
              <a:rPr sz="1600" dirty="0"/>
              <a:t>=False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• unigrams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520440" cy="12801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280160"/>
            <a:ext cx="54864" cy="12801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0" y="1408176"/>
            <a:ext cx="3275640" cy="11798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Linear SVM</a:t>
            </a:r>
          </a:p>
          <a:p>
            <a:pPr>
              <a:defRPr sz="2300" b="1">
                <a:solidFill>
                  <a:srgbClr val="8B5CF6"/>
                </a:solidFill>
              </a:defRPr>
            </a:pPr>
            <a:r>
              <a:rPr sz="1600" dirty="0"/>
              <a:t>CV F1 75.29%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Best: C=0.1 • </a:t>
            </a:r>
            <a:r>
              <a:rPr sz="1600" dirty="0" err="1"/>
              <a:t>class_weight</a:t>
            </a:r>
            <a:r>
              <a:rPr sz="1600" dirty="0"/>
              <a:t>=balanced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• bigrams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28803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79" y="3246120"/>
            <a:ext cx="146304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Train 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3246120"/>
            <a:ext cx="169164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Validation F1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3246120"/>
            <a:ext cx="13258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F1 Std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3246120"/>
            <a:ext cx="141732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8FAFC"/>
                </a:solidFill>
              </a:defRPr>
            </a:pPr>
            <a:r>
              <a:t>Gap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3849624"/>
            <a:ext cx="28803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Logistic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79" y="3849624"/>
            <a:ext cx="14630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85.22%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49240" y="3849624"/>
            <a:ext cx="16916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75.29%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3849624"/>
            <a:ext cx="132588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1.64%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849624"/>
            <a:ext cx="14173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9.93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453128"/>
            <a:ext cx="28803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Multinomial NB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79" y="4453128"/>
            <a:ext cx="14630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85.19%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49240" y="4453128"/>
            <a:ext cx="16916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75.11%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4453128"/>
            <a:ext cx="132588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1.76%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4453128"/>
            <a:ext cx="14173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10.08 pp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5056631"/>
            <a:ext cx="28803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Linear SVM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79" y="5056631"/>
            <a:ext cx="14630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87.03%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49240" y="5056631"/>
            <a:ext cx="16916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75.29%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5056631"/>
            <a:ext cx="132588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1.63%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58200" y="5056631"/>
            <a:ext cx="14173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F8FAFC"/>
                </a:solidFill>
              </a:defRPr>
            </a:pPr>
            <a:r>
              <a:t>11.74 pp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3 — Final Holdout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394338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The tuned Linear SVM was selected for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05740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4864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08177"/>
            <a:ext cx="1815433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Accuracy</a:t>
            </a:r>
          </a:p>
          <a:p>
            <a:pPr>
              <a:defRPr sz="2300" b="1">
                <a:solidFill>
                  <a:srgbClr val="3B82F6"/>
                </a:solidFill>
              </a:defRPr>
            </a:pPr>
            <a:r>
              <a:rPr sz="1600" dirty="0"/>
              <a:t>81.09%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Unseen holdout 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8648" y="1325880"/>
            <a:ext cx="205740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98648" y="1325880"/>
            <a:ext cx="54864" cy="1143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81528" y="1453895"/>
            <a:ext cx="1815433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Precision</a:t>
            </a:r>
          </a:p>
          <a:p>
            <a:pPr>
              <a:defRPr sz="2300" b="1">
                <a:solidFill>
                  <a:srgbClr val="8B5CF6"/>
                </a:solidFill>
              </a:defRPr>
            </a:pPr>
            <a:r>
              <a:rPr sz="1600"/>
              <a:t>78.33%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Unseen holdout 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02936" y="1325880"/>
            <a:ext cx="205740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202936" y="1325880"/>
            <a:ext cx="54864" cy="11430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85816" y="1453895"/>
            <a:ext cx="1815433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Recall</a:t>
            </a:r>
          </a:p>
          <a:p>
            <a:pPr>
              <a:defRPr sz="2300" b="1">
                <a:solidFill>
                  <a:srgbClr val="22D3EE"/>
                </a:solidFill>
              </a:defRPr>
            </a:pPr>
            <a:r>
              <a:rPr sz="1600"/>
              <a:t>77.37%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Unseen holdout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07224" y="1325880"/>
            <a:ext cx="205740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507224" y="1325880"/>
            <a:ext cx="54864" cy="1143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90104" y="1453895"/>
            <a:ext cx="1815433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F1 Score</a:t>
            </a:r>
          </a:p>
          <a:p>
            <a:pPr>
              <a:defRPr sz="2300" b="1">
                <a:solidFill>
                  <a:srgbClr val="EC4899"/>
                </a:solidFill>
              </a:defRPr>
            </a:pPr>
            <a:r>
              <a:rPr sz="1600"/>
              <a:t>77.85%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Unseen holdout 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11512" y="1325880"/>
            <a:ext cx="2057400" cy="11430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811512" y="132588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94392" y="1453895"/>
            <a:ext cx="1815433" cy="8822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ROC-AUC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rPr sz="1600"/>
              <a:t>87.09%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Unseen holdout set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108960"/>
            <a:ext cx="306324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Model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3108960"/>
            <a:ext cx="12801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Accuracy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12080" y="3108960"/>
            <a:ext cx="12801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Precision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3108960"/>
            <a:ext cx="118872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Recall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3108960"/>
            <a:ext cx="118872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F1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3108960"/>
            <a:ext cx="128016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ROC-AUC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3712463"/>
            <a:ext cx="30632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Tuned Logistic Regression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86200" y="3712463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80.89%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12080" y="3712463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78.05%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712463"/>
            <a:ext cx="11887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77.22%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400" y="3712463"/>
            <a:ext cx="11887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77.63%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06840" y="3712463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86.98%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4315968"/>
            <a:ext cx="30632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Tuned Multinomial NB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4315968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79.51%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212080" y="4315968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77.23%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315968"/>
            <a:ext cx="11887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74.16%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4315968"/>
            <a:ext cx="11887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75.66%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6840" y="4315968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86.41%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7240" y="4919471"/>
            <a:ext cx="306324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Tuned Linear SVM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86200" y="4919471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81.09%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12080" y="4919471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78.33%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37960" y="4919471"/>
            <a:ext cx="11887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77.37%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4919471"/>
            <a:ext cx="118872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77.85%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06840" y="4919471"/>
            <a:ext cx="1280160" cy="530352"/>
          </a:xfrm>
          <a:prstGeom prst="roundRect">
            <a:avLst/>
          </a:prstGeom>
          <a:solidFill>
            <a:srgbClr val="14263F"/>
          </a:solidFill>
          <a:ln>
            <a:solidFill>
              <a:srgbClr val="2B3E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87.09%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87040" y="5715000"/>
            <a:ext cx="6217920" cy="5943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971800" y="5715000"/>
            <a:ext cx="54864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154680" y="5754409"/>
            <a:ext cx="2134367" cy="5745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FINAL MODEL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Tuned TF-IDF + Linear SVM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3 —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443672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The main remaining challenge is contextual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80160"/>
            <a:ext cx="2286000" cy="109728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280160"/>
            <a:ext cx="54864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4801" y="1330143"/>
            <a:ext cx="2109680" cy="1056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False Positives</a:t>
            </a:r>
          </a:p>
          <a:p>
            <a:pPr>
              <a:defRPr sz="2300" b="1">
                <a:solidFill>
                  <a:srgbClr val="EF4444"/>
                </a:solidFill>
              </a:defRPr>
            </a:pPr>
            <a:r>
              <a:rPr sz="1400" dirty="0"/>
              <a:t>140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Non-Disaster predicted as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Disaster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54680" y="1280160"/>
            <a:ext cx="2286000" cy="109728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54680" y="1280160"/>
            <a:ext cx="54864" cy="10972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47277" y="1327980"/>
            <a:ext cx="1750607" cy="10567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False Negatives</a:t>
            </a:r>
          </a:p>
          <a:p>
            <a:pPr>
              <a:defRPr sz="2300" b="1">
                <a:solidFill>
                  <a:srgbClr val="F97316"/>
                </a:solidFill>
              </a:defRPr>
            </a:pPr>
            <a:r>
              <a:rPr sz="1400" dirty="0"/>
              <a:t>148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Disaster predicted as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Non-Disaster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280160"/>
            <a:ext cx="2286000" cy="109728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23560" y="128016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440" y="1408176"/>
            <a:ext cx="1038105" cy="789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Total Errors</a:t>
            </a:r>
          </a:p>
          <a:p>
            <a:pPr>
              <a:defRPr sz="2300" b="1">
                <a:solidFill>
                  <a:srgbClr val="8B5CF6"/>
                </a:solidFill>
              </a:defRPr>
            </a:pPr>
            <a:r>
              <a:rPr sz="1400" dirty="0"/>
              <a:t>288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Holdout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280160"/>
            <a:ext cx="3291840" cy="109728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2440" y="1280160"/>
            <a:ext cx="54864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75319" y="1408176"/>
            <a:ext cx="1605761" cy="789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Correct Predictions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rPr sz="1400" dirty="0"/>
              <a:t>81.09%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1,235 of 1,523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2880360"/>
            <a:ext cx="1965960" cy="32918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rPr sz="1200"/>
              <a:t>WHY FALSE POSITIVES?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Words such as bomb, earthquake, wreck, spill and detonation used figuratively, humorously or technically.</a:t>
            </a:r>
          </a:p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Keyword presence can be strong even when no real disaster is reported.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880360"/>
            <a:ext cx="1965960" cy="329184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8FAFC"/>
                </a:solidFill>
              </a:defRPr>
            </a:pPr>
            <a:r>
              <a:rPr sz="1200"/>
              <a:t>WHY FALSE NEGATIVES?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42900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Indirect wording, abbreviations, noisy text and limited context.</a:t>
            </a:r>
          </a:p>
          <a:p>
            <a:pPr>
              <a:spcAft>
                <a:spcPts val="900"/>
              </a:spcAft>
              <a:defRPr sz="1350">
                <a:solidFill>
                  <a:srgbClr val="F8FAFC"/>
                </a:solidFill>
              </a:defRPr>
            </a:pPr>
            <a:r>
              <a:t>• TF-IDF learns statistical patterns but not deeper semantics, sarcasm or ambiguity.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  <a:latin typeface="Aptos Display"/>
              </a:defRPr>
            </a:pPr>
            <a:r>
              <a:t>Part 4 — Deployment &amp; Modular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55133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Saved model + reusable prediction pipeline + dynamic Streamlit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38404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B7C6DB"/>
                </a:solidFill>
              </a:defRPr>
            </a:pPr>
            <a:r>
              <a:t>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54864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53895"/>
            <a:ext cx="1458476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data_loader.py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Load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32588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47288" y="132588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30168" y="1453895"/>
            <a:ext cx="2073324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preprocessing.py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Clean &amp; normalize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32588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0216" y="1325880"/>
            <a:ext cx="54864" cy="105156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83096" y="1453895"/>
            <a:ext cx="2176301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feature_engineering.py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Create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132588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53144" y="1325880"/>
            <a:ext cx="54864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36024" y="1453895"/>
            <a:ext cx="1748427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model_training.py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Train 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65176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651760"/>
            <a:ext cx="54864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2779776"/>
            <a:ext cx="1459567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evaluation.py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Metrics &amp; plots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47288" y="265176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47288" y="2651760"/>
            <a:ext cx="54864" cy="10515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30168" y="2779776"/>
            <a:ext cx="1292726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validation.py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CV + tuning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0216" y="265176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0216" y="2651760"/>
            <a:ext cx="54864" cy="10515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3096" y="2779776"/>
            <a:ext cx="2054986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/>
              <a:t>model_persistence.py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/>
              <a:t>Save/load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2651760"/>
            <a:ext cx="260604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153144" y="2651760"/>
            <a:ext cx="54864" cy="105156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36024" y="2779776"/>
            <a:ext cx="1401922" cy="63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prediction.py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Inference logic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4343400"/>
            <a:ext cx="3246120" cy="12344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" y="434340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471416"/>
            <a:ext cx="3008377" cy="789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/>
              <a:t>Serialized Model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/>
              <a:t>models/disaster_tweet_svm_pipeline.pkl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80560" y="4343400"/>
            <a:ext cx="3246120" cy="12344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80560" y="4343400"/>
            <a:ext cx="54864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0" y="4309184"/>
            <a:ext cx="2435450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Streamlit Dashboard</a:t>
            </a:r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B7C6DB"/>
                </a:solidFill>
              </a:defRPr>
            </a:pPr>
            <a:r>
              <a:rPr lang="en-IN" sz="1400" dirty="0"/>
              <a:t>  </a:t>
            </a:r>
            <a:r>
              <a:rPr sz="1400" dirty="0"/>
              <a:t>Tweet input </a:t>
            </a:r>
            <a:endParaRPr lang="en-IN" sz="1400" dirty="0"/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B7C6DB"/>
                </a:solidFill>
              </a:defRPr>
            </a:pPr>
            <a:r>
              <a:rPr sz="1400" dirty="0"/>
              <a:t> live prediction </a:t>
            </a:r>
            <a:endParaRPr lang="en-IN" sz="1400" dirty="0"/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B7C6DB"/>
                </a:solidFill>
              </a:defRPr>
            </a:pPr>
            <a:r>
              <a:rPr sz="1400" dirty="0"/>
              <a:t> model performance </a:t>
            </a:r>
            <a:endParaRPr lang="en-IN" sz="1400" dirty="0"/>
          </a:p>
          <a:p>
            <a:pPr marL="171450" indent="-171450">
              <a:spcBef>
                <a:spcPts val="400"/>
              </a:spcBef>
              <a:buFont typeface="Arial" panose="020B0604020202020204" pitchFamily="34" charset="0"/>
              <a:buChar char="•"/>
              <a:defRPr sz="1000">
                <a:solidFill>
                  <a:srgbClr val="B7C6DB"/>
                </a:solidFill>
              </a:defRPr>
            </a:pPr>
            <a:r>
              <a:rPr sz="1400" dirty="0"/>
              <a:t> error analysis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343400"/>
            <a:ext cx="3246120" cy="12344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60" y="4343400"/>
            <a:ext cx="54864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21040" y="4360480"/>
            <a:ext cx="29931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Deployment Status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Interactive app completed locally.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Cloud/server deployment is the remaining production </a:t>
            </a:r>
            <a:endParaRPr lang="en-IN" sz="14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step.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Streamlit Dashboard —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t>Interactive web interface for real-time prediction and project exploration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7635240" cy="4983480"/>
          </a:xfrm>
          <a:prstGeom prst="roundRect">
            <a:avLst/>
          </a:prstGeom>
          <a:solidFill>
            <a:srgbClr val="F5F7FB"/>
          </a:solidFill>
          <a:ln>
            <a:solidFill>
              <a:srgbClr val="50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635240" cy="38404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0664" y="1353312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353312"/>
            <a:ext cx="100584" cy="10058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353312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18488"/>
            <a:ext cx="1600200" cy="459943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74519"/>
            <a:ext cx="12344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🏠 Home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🔎 Live Prediction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📊 Model Performance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🧪 Error Analysis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📘 Project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892808"/>
            <a:ext cx="5486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337"/>
                </a:solidFill>
              </a:defRPr>
            </a:pPr>
            <a:r>
              <a:t>Disaster Tweet Classification</a:t>
            </a:r>
          </a:p>
          <a:p>
            <a:pPr>
              <a:defRPr sz="950">
                <a:solidFill>
                  <a:srgbClr val="5A697D"/>
                </a:solidFill>
              </a:defRPr>
            </a:pPr>
            <a:r>
              <a:t>AI-powered classification of tweets into Disaster / Non-Disaster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2743200"/>
            <a:ext cx="5486400" cy="9601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79" y="2743200"/>
            <a:ext cx="54864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2871216"/>
            <a:ext cx="5193792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Welcome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Enter a tweet, view the prediction, inspect model performance and explore error analysis.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79" y="3931920"/>
            <a:ext cx="1508760" cy="12344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68879" y="3931920"/>
            <a:ext cx="54864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4059935"/>
            <a:ext cx="1216151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Final Model</a:t>
            </a:r>
          </a:p>
          <a:p>
            <a:pPr>
              <a:defRPr sz="2300" b="1">
                <a:solidFill>
                  <a:srgbClr val="3B82F6"/>
                </a:solidFill>
              </a:defRPr>
            </a:pPr>
            <a:r>
              <a:t>81.09%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Tuned Linear SVM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931920"/>
            <a:ext cx="1508760" cy="12344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160520" y="3931920"/>
            <a:ext cx="54864" cy="12344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343400" y="4059935"/>
            <a:ext cx="1216151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F1 Score</a:t>
            </a:r>
          </a:p>
          <a:p>
            <a:pPr>
              <a:defRPr sz="2300" b="1">
                <a:solidFill>
                  <a:srgbClr val="EC4899"/>
                </a:solidFill>
              </a:defRPr>
            </a:pPr>
            <a:r>
              <a:t>77.85%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Holdout 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931920"/>
            <a:ext cx="1508760" cy="123444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52160" y="393192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35040" y="4059935"/>
            <a:ext cx="1216151" cy="10332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ROC-AUC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t>87.09%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Holdout 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160020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Colourful multi-page interface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Reusable prediction module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Immediate classification feedback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Performance and error-analysis views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Streamlit Dashboard — Live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t>The deployed pipeline cleans the input and predicts with the saved Linear SVM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7635240" cy="4983480"/>
          </a:xfrm>
          <a:prstGeom prst="roundRect">
            <a:avLst/>
          </a:prstGeom>
          <a:solidFill>
            <a:srgbClr val="F5F7FB"/>
          </a:solidFill>
          <a:ln>
            <a:solidFill>
              <a:srgbClr val="50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635240" cy="38404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0664" y="1353312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353312"/>
            <a:ext cx="100584" cy="10058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353312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18488"/>
            <a:ext cx="1600200" cy="459943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74519"/>
            <a:ext cx="12344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🏠 Home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🔎 Live Prediction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📊 Model Performance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🧪 Error Analysis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t>📘 Project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892808"/>
            <a:ext cx="5486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337"/>
                </a:solidFill>
              </a:defRPr>
            </a:pPr>
            <a:r>
              <a:t>Live Tweet Prediction</a:t>
            </a:r>
          </a:p>
          <a:p>
            <a:pPr>
              <a:defRPr sz="950">
                <a:solidFill>
                  <a:srgbClr val="5A697D"/>
                </a:solidFill>
              </a:defRPr>
            </a:pPr>
            <a:r>
              <a:t>Paste or type a tweet below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2743200"/>
            <a:ext cx="54864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BEC8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06039" y="288036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23C50"/>
                </a:solidFill>
              </a:defRPr>
            </a:pPr>
            <a:r>
              <a:t>Emergency crews are responding to severe flooding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79" y="3703320"/>
            <a:ext cx="1417320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Predict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79" y="4343400"/>
            <a:ext cx="5486400" cy="960120"/>
          </a:xfrm>
          <a:prstGeom prst="roundRect">
            <a:avLst/>
          </a:prstGeom>
          <a:solidFill>
            <a:srgbClr val="DCFCE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46E4B"/>
                </a:solidFill>
              </a:defRPr>
            </a:pPr>
            <a:r>
              <a:t>Prediction: DISASTER</a:t>
            </a:r>
          </a:p>
          <a:p>
            <a:pPr algn="ctr">
              <a:defRPr sz="850">
                <a:solidFill>
                  <a:srgbClr val="375546"/>
                </a:solidFill>
              </a:defRPr>
            </a:pPr>
            <a:r>
              <a:t>Processed text: emergency crew responding severe flooding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160020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Input is cleaned with the same preprocessing module used during model development.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The saved pipeline is loaded from the models folder.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The dashboard returns a clear Disaster / Non-Disaster result in real time.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Streamlit Dashboard — Analytics &amp; Error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51151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The interface also communicates model quality, not just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7635240" cy="4983480"/>
          </a:xfrm>
          <a:prstGeom prst="roundRect">
            <a:avLst/>
          </a:prstGeom>
          <a:solidFill>
            <a:srgbClr val="F5F7FB"/>
          </a:solidFill>
          <a:ln>
            <a:solidFill>
              <a:srgbClr val="5064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7635240" cy="384048"/>
          </a:xfrm>
          <a:prstGeom prst="rect">
            <a:avLst/>
          </a:prstGeom>
          <a:solidFill>
            <a:srgbClr val="E1E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40664" y="1353312"/>
            <a:ext cx="100584" cy="100584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41832" y="1353312"/>
            <a:ext cx="100584" cy="100584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353312"/>
            <a:ext cx="100584" cy="100584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59" y="1618488"/>
            <a:ext cx="1691639" cy="4599432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" y="1874519"/>
            <a:ext cx="1555234" cy="13490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rPr sz="1100" dirty="0"/>
              <a:t>🏠 Home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rPr sz="1100" dirty="0"/>
              <a:t>🔎 Live Prediction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rPr sz="1100" dirty="0"/>
              <a:t>📊 Model Performance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rPr sz="1100" dirty="0"/>
              <a:t>🧪 Error Analysis</a:t>
            </a:r>
          </a:p>
          <a:p>
            <a:pPr>
              <a:spcAft>
                <a:spcPts val="800"/>
              </a:spcAft>
              <a:defRPr sz="850">
                <a:solidFill>
                  <a:srgbClr val="2D374B"/>
                </a:solidFill>
              </a:defRPr>
            </a:pPr>
            <a:r>
              <a:rPr sz="1100" dirty="0"/>
              <a:t>📘 Project Details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79" y="1892808"/>
            <a:ext cx="416511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337"/>
                </a:solidFill>
              </a:defRPr>
            </a:pPr>
            <a:r>
              <a:rPr sz="1400" dirty="0"/>
              <a:t>Model Performance</a:t>
            </a:r>
          </a:p>
          <a:p>
            <a:pPr>
              <a:defRPr sz="950">
                <a:solidFill>
                  <a:srgbClr val="5A697D"/>
                </a:solidFill>
              </a:defRPr>
            </a:pPr>
            <a:r>
              <a:rPr sz="1400" dirty="0"/>
              <a:t>Final tuned model metrics and error-analysis summary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2743200"/>
            <a:ext cx="1417320" cy="109728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68879" y="2743200"/>
            <a:ext cx="54864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1760" y="2871216"/>
            <a:ext cx="1124712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Accuracy</a:t>
            </a:r>
          </a:p>
          <a:p>
            <a:pPr>
              <a:defRPr sz="2300" b="1">
                <a:solidFill>
                  <a:srgbClr val="3B82F6"/>
                </a:solidFill>
              </a:defRPr>
            </a:pPr>
            <a:r>
              <a:t>81.09%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Holdout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69079" y="2743200"/>
            <a:ext cx="1417320" cy="109728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069079" y="2743200"/>
            <a:ext cx="54864" cy="109728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59" y="2871216"/>
            <a:ext cx="1124712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Precision</a:t>
            </a:r>
          </a:p>
          <a:p>
            <a:pPr>
              <a:defRPr sz="2300" b="1">
                <a:solidFill>
                  <a:srgbClr val="8B5CF6"/>
                </a:solidFill>
              </a:defRPr>
            </a:pPr>
            <a:r>
              <a:t>78.33%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Holdout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79" y="2743200"/>
            <a:ext cx="1417320" cy="109728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669279" y="2743200"/>
            <a:ext cx="54864" cy="109728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52159" y="2871216"/>
            <a:ext cx="1124712" cy="8961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Recall</a:t>
            </a:r>
          </a:p>
          <a:p>
            <a:pPr>
              <a:defRPr sz="2300" b="1">
                <a:solidFill>
                  <a:srgbClr val="22D3EE"/>
                </a:solidFill>
              </a:defRPr>
            </a:pPr>
            <a:r>
              <a:t>77.37%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Holdout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68879" y="4114800"/>
            <a:ext cx="219456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468879" y="4114800"/>
            <a:ext cx="54864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651760" y="4242816"/>
            <a:ext cx="190195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False Positives</a:t>
            </a:r>
          </a:p>
          <a:p>
            <a:pPr>
              <a:defRPr sz="2300" b="1">
                <a:solidFill>
                  <a:srgbClr val="EF4444"/>
                </a:solidFill>
              </a:defRPr>
            </a:pPr>
            <a:r>
              <a:t>140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Non-Disaster → Disaster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92040" y="4114800"/>
            <a:ext cx="2194560" cy="10515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892040" y="4114800"/>
            <a:ext cx="54864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74920" y="4242816"/>
            <a:ext cx="1901952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t>False Negatives</a:t>
            </a:r>
          </a:p>
          <a:p>
            <a:pPr>
              <a:defRPr sz="2300" b="1">
                <a:solidFill>
                  <a:srgbClr val="F97316"/>
                </a:solidFill>
              </a:defRPr>
            </a:pPr>
            <a:r>
              <a:t>148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t>Disaster → Non-Disaster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1600200"/>
            <a:ext cx="2880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Model Performance page presents key evaluation results.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Error Analysis page highlights false positives and false negatives.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Project Details page explains the workflow and model used.</a:t>
            </a:r>
          </a:p>
          <a:p>
            <a:pPr>
              <a:spcAft>
                <a:spcPts val="900"/>
              </a:spcAft>
              <a:defRPr sz="1300">
                <a:solidFill>
                  <a:srgbClr val="F8FAFC"/>
                </a:solidFill>
              </a:defRPr>
            </a:pPr>
            <a:r>
              <a:t>• This makes the app useful for both prediction and project demonstration.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Final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58310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Recommended model and deployment approach based on the project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657600" cy="34747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54864" cy="3474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545336"/>
            <a:ext cx="3467488" cy="17748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Recommended Model</a:t>
            </a:r>
          </a:p>
          <a:p>
            <a:pPr>
              <a:defRPr sz="2300" b="1">
                <a:solidFill>
                  <a:srgbClr val="10B981"/>
                </a:solidFill>
              </a:defRPr>
            </a:pPr>
            <a:r>
              <a:rPr sz="1600" dirty="0"/>
              <a:t>Linear SVM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Use the tuned TF-IDF + Linear SVM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pipeline as the final</a:t>
            </a:r>
            <a:r>
              <a:rPr lang="en-IN" sz="1600" dirty="0"/>
              <a:t> </a:t>
            </a:r>
            <a:r>
              <a:rPr sz="1600" dirty="0"/>
              <a:t>classifier because it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achieved the strongest overall holdout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417320"/>
            <a:ext cx="3154680" cy="34747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17720" y="1417320"/>
            <a:ext cx="54864" cy="3474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545336"/>
            <a:ext cx="3137013" cy="1528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Why This Model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Best final accuracy (81.09%),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F1 (77.85%) and ROC-AUC (87.09%)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, with a balanced precision–recall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 profile.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417320"/>
            <a:ext cx="3429000" cy="34747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55279" y="1417320"/>
            <a:ext cx="54864" cy="3474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38159" y="1545336"/>
            <a:ext cx="3348289" cy="1528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Recommended Deployment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Keep preprocessing and prediction in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reusable </a:t>
            </a:r>
            <a:r>
              <a:rPr sz="1600" dirty="0" err="1"/>
              <a:t>src</a:t>
            </a:r>
            <a:r>
              <a:rPr sz="1600" dirty="0"/>
              <a:t> modules,</a:t>
            </a:r>
            <a:r>
              <a:rPr lang="en-IN" sz="1600" dirty="0"/>
              <a:t> </a:t>
            </a:r>
            <a:r>
              <a:rPr sz="1600" dirty="0"/>
              <a:t>serialize the full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 pipeline, and serve</a:t>
            </a:r>
            <a:r>
              <a:rPr lang="en-IN" sz="1600" dirty="0"/>
              <a:t> </a:t>
            </a:r>
            <a:r>
              <a:rPr sz="1600" dirty="0"/>
              <a:t>it through the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Streamlit dashboard.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F8FAFC"/>
                </a:solidFill>
              </a:defRPr>
            </a:pPr>
            <a:r>
              <a:rPr dirty="0"/>
              <a:t>• For future production use, test on larger and more diverse tweet data and consider transformer-based NLP for stronger contextual understanding.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510972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The project meets the core NLP, machine-learning, validation and interface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1343676"/>
            <a:ext cx="1033272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Built an end-to-end NLP pipeline for classifying real disaster and non-disaster tweets.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Completed data exploration, cleaning, feature engineering, model comparison, cross-validation and hyperparameter tuning.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Selected tuned Linear SVM after final unseen holdout evaluation.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Achieved 81.09% accuracy, 77.85% F1-score and 87.09% ROC-AUC.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Performed qualitative error analysis to identify context, metaphor and ambiguity as major remaining challenges.</a:t>
            </a:r>
          </a:p>
          <a:p>
            <a:pPr>
              <a:spcAft>
                <a:spcPts val="900"/>
              </a:spcAft>
              <a:defRPr sz="1600">
                <a:solidFill>
                  <a:srgbClr val="F8FAFC"/>
                </a:solidFill>
              </a:defRPr>
            </a:pPr>
            <a:r>
              <a:rPr dirty="0"/>
              <a:t>• Converted notebook experimentation into reusable Python modules and an interactive Streamlit application.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84832" y="4251960"/>
            <a:ext cx="8092440" cy="59436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 flipH="1">
            <a:off x="2066544" y="4256532"/>
            <a:ext cx="45719" cy="5943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29726" y="4276376"/>
            <a:ext cx="6954372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PROJECT OUTCOME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A complete workflow from raw social-media text → validated model → interactive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C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96112"/>
            <a:ext cx="22233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B7C6DB"/>
                </a:solidFill>
              </a:defRPr>
            </a:pPr>
            <a:r>
              <a:rPr sz="1400" dirty="0"/>
              <a:t>What this project taught us</a:t>
            </a:r>
            <a:r>
              <a:rPr lang="en-IN" sz="1400" dirty="0"/>
              <a:t>:</a:t>
            </a:r>
            <a:endParaRPr sz="1400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12080" cy="18288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417320"/>
            <a:ext cx="54864" cy="1828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04188"/>
            <a:ext cx="4738926" cy="9335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1. Preprocessing Matters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Cleaning URLs, noise and common words improves the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 quality of NLP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417320"/>
            <a:ext cx="5212080" cy="18288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55080" y="1417320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545336"/>
            <a:ext cx="4783169" cy="9335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2. Validation Matters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Leakage-safe cross-validation gives a more trustworthy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estimate than one split.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5212080" cy="18288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54864" cy="18288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785615"/>
            <a:ext cx="4801571" cy="9335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3. Context Is Hard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A keyword can signal a disaster or be metaphorical;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statistical text models do not fully understand meaning.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657600"/>
            <a:ext cx="5212080" cy="182880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55080" y="3657600"/>
            <a:ext cx="54864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3785615"/>
            <a:ext cx="5044073" cy="93358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600" dirty="0"/>
              <a:t>4. Deployment Matters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A useful ML project must move beyond the notebook into </a:t>
            </a:r>
            <a:endParaRPr lang="en-IN" sz="1600" dirty="0"/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600" dirty="0"/>
              <a:t>reusable code and a practical interface.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5806440"/>
            <a:ext cx="8549640" cy="5029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28800" y="5806440"/>
            <a:ext cx="54864" cy="5029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33017" y="5770642"/>
            <a:ext cx="8330183" cy="5745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F8FAFC"/>
                </a:solidFill>
              </a:defRPr>
            </a:pPr>
            <a:r>
              <a:rPr sz="1400" dirty="0"/>
              <a:t>CORE MESSAGE</a:t>
            </a:r>
          </a:p>
          <a:p>
            <a:pPr>
              <a:spcBef>
                <a:spcPts val="400"/>
              </a:spcBef>
              <a:defRPr sz="1000">
                <a:solidFill>
                  <a:srgbClr val="B7C6DB"/>
                </a:solidFill>
              </a:defRPr>
            </a:pPr>
            <a:r>
              <a:rPr sz="1400" dirty="0"/>
              <a:t>Good NLP performance comes from the complete workflow—not only from choosing an algorithm.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37960"/>
            <a:ext cx="10881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47891"/>
                </a:solidFill>
              </a:defRPr>
            </a:pPr>
            <a:r>
              <a:t>NLP Project • Disaster Tweet Classification • Project Submission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735580" y="2240280"/>
            <a:ext cx="6720840" cy="1188720"/>
          </a:xfrm>
          <a:prstGeom prst="roundRect">
            <a:avLst/>
          </a:prstGeom>
          <a:solidFill>
            <a:srgbClr val="12223A"/>
          </a:solidFill>
          <a:ln>
            <a:solidFill>
              <a:srgbClr val="2A3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dirty="0"/>
              <a:t>Thank You</a:t>
            </a:r>
            <a:endParaRPr sz="6600" dirty="0"/>
          </a:p>
        </p:txBody>
      </p:sp>
      <p:sp>
        <p:nvSpPr>
          <p:cNvPr id="5" name="Rectangle 4"/>
          <p:cNvSpPr/>
          <p:nvPr/>
        </p:nvSpPr>
        <p:spPr>
          <a:xfrm>
            <a:off x="2680716" y="224028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2019</Words>
  <Application>Microsoft Office PowerPoint</Application>
  <PresentationFormat>Widescreen</PresentationFormat>
  <Paragraphs>444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AMOGH</dc:creator>
  <cp:keywords/>
  <dc:description>generated using python-pptx</dc:description>
  <cp:lastModifiedBy>Amit Parasher</cp:lastModifiedBy>
  <cp:revision>4</cp:revision>
  <dcterms:created xsi:type="dcterms:W3CDTF">2013-01-27T09:14:16Z</dcterms:created>
  <dcterms:modified xsi:type="dcterms:W3CDTF">2026-10-15T09:35:44Z</dcterms:modified>
  <cp:category/>
</cp:coreProperties>
</file>